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case study of a fictional manufacturer, built on real design patterns from order-processing and accounting systems, the kind of change I led. The company and every number are synthetic. One outcome is real, and I will say which.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Orders on paper forms, stock checked by walking the shelves, purchases by email, invoices keyed by hand. Orders were cancelled after materials had gone to the workshop, and vouchers were edited and deleted after posting.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hand-off is paper or email, so each one is a place an order waits unseen. About 200 orders a month went this way. The full BPMN map is in the report.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state model came before the screens. It has 44 allowed moves and 19 refused ones. The rejected big-bang option has a public reference case in Canada's Phoenix pay system: the Auditor General found its pilot had been cut and warnings did not travel 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Sales confirms an order only if the customer is within its credit; handing it to logistics locks it for sales. Finished goods already in stock go straight to a trip. Each trip is invoiced before it leaves, and the customer pays on its contract's 30-day terms after delivery. Cancelling, purchasing with approval kept on paper, and the voucher that is posted and locked are in the full maps and the state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Sampled: one error path from four of the eight stories. The UAT script is generated from the stories, and the traceability matrix ties every test to a business objective.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figures are illustrative, from the synthetic dataset. The real outcome: the system this is modelled on is used by 50 to 100 people, and it replaced hand records, manual warehouse checks and manual order processing. No real timings exist, so I do not claim any.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problem became a rule in the rollout plan. The decided-versus-built register is why UAT caught the missing rules: every decided rule had its own test. Next time I would put collection in the pilot.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this to their process: which of their documents can still be changed after it matters?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deck is in the repository, generated from one model and one dataset, so the report and the deck agree.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1905000"/>
            <a:ext cx="9118600" cy="254000"/>
          </a:xfrm>
          <a:prstGeom prst="rect">
            <a:avLst/>
          </a:prstGeom>
          <a:noFill/>
        </p:spPr>
        <p:txBody>
          <a:bodyPr wrap="square" anchor="t" lIns="0" rIns="0" tIns="0" bIns="0">
            <a:spAutoFit/>
          </a:bodyPr>
          <a:lstStyle/>
          <a:p>
            <a:pPr algn="l"/>
            <a:r>
              <a:rPr sz="1200" b="0">
                <a:solidFill>
                  <a:srgbClr val="5B6B73"/>
                </a:solidFill>
                <a:latin typeface="Arial"/>
              </a:rPr>
              <a:t>Product owner case study . Tanmark Industries, a fictional company</a:t>
            </a:r>
          </a:p>
        </p:txBody>
      </p:sp>
      <p:sp>
        <p:nvSpPr>
          <p:cNvPr id="3" name="TextBox 2"/>
          <p:cNvSpPr txBox="1"/>
          <p:nvPr/>
        </p:nvSpPr>
        <p:spPr>
          <a:xfrm>
            <a:off x="609600" y="2286000"/>
            <a:ext cx="9118600" cy="1397000"/>
          </a:xfrm>
          <a:prstGeom prst="rect">
            <a:avLst/>
          </a:prstGeom>
          <a:noFill/>
        </p:spPr>
        <p:txBody>
          <a:bodyPr wrap="square" anchor="t" lIns="0" rIns="0" tIns="0" bIns="0">
            <a:spAutoFit/>
          </a:bodyPr>
          <a:lstStyle/>
          <a:p>
            <a:pPr algn="l"/>
            <a:r>
              <a:rPr sz="4400" b="1">
                <a:solidFill>
                  <a:srgbClr val="16232B"/>
                </a:solidFill>
                <a:latin typeface="Arial"/>
              </a:rPr>
              <a:t>From paper to one system</a:t>
            </a:r>
          </a:p>
        </p:txBody>
      </p:sp>
      <p:sp>
        <p:nvSpPr>
          <p:cNvPr id="4" name="TextBox 3"/>
          <p:cNvSpPr txBox="1"/>
          <p:nvPr/>
        </p:nvSpPr>
        <p:spPr>
          <a:xfrm>
            <a:off x="609600" y="3810000"/>
            <a:ext cx="9118600" cy="889000"/>
          </a:xfrm>
          <a:prstGeom prst="rect">
            <a:avLst/>
          </a:prstGeom>
          <a:noFill/>
        </p:spPr>
        <p:txBody>
          <a:bodyPr wrap="square" anchor="t" lIns="0" rIns="0" tIns="0" bIns="0">
            <a:spAutoFit/>
          </a:bodyPr>
          <a:lstStyle/>
          <a:p>
            <a:pPr algn="l"/>
            <a:r>
              <a:rPr sz="2200" b="0">
                <a:solidFill>
                  <a:srgbClr val="1D5C6B"/>
                </a:solidFill>
                <a:latin typeface="Arial"/>
              </a:rPr>
              <a:t>How a tank, drum and container maker moved orders, purchasing and accounting onto one system</a:t>
            </a:r>
          </a:p>
        </p:txBody>
      </p:sp>
      <p:cxnSp>
        <p:nvCxnSpPr>
          <p:cNvPr id="5" name="Connector 4"/>
          <p:cNvCxnSpPr/>
          <p:nvPr/>
        </p:nvCxnSpPr>
        <p:spPr>
          <a:xfrm>
            <a:off x="609600" y="4953000"/>
            <a:ext cx="2628900" cy="0"/>
          </a:xfrm>
          <a:prstGeom prst="line">
            <a:avLst/>
          </a:prstGeom>
          <a:ln w="50800">
            <a:solidFill>
              <a:srgbClr val="1D5C6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The problem</a:t>
            </a:r>
          </a:p>
        </p:txBody>
      </p:sp>
      <p:sp>
        <p:nvSpPr>
          <p:cNvPr id="3" name="TextBox 2"/>
          <p:cNvSpPr txBox="1"/>
          <p:nvPr/>
        </p:nvSpPr>
        <p:spPr>
          <a:xfrm>
            <a:off x="609600" y="1854200"/>
            <a:ext cx="9118600" cy="4292600"/>
          </a:xfrm>
          <a:prstGeom prst="rect">
            <a:avLst/>
          </a:prstGeom>
          <a:noFill/>
        </p:spPr>
        <p:txBody>
          <a:bodyPr wrap="square" anchor="ctr" lIns="0" rIns="0" tIns="0" bIns="0">
            <a:spAutoFit/>
          </a:bodyPr>
          <a:lstStyle/>
          <a:p>
            <a:pPr algn="l"/>
            <a:r>
              <a:rPr sz="4400" b="1">
                <a:solidFill>
                  <a:srgbClr val="1D5C6B"/>
                </a:solidFill>
                <a:latin typeface="Arial"/>
              </a:rPr>
              <a:t>Nobody could see where an order was stuck.</a:t>
            </a:r>
          </a:p>
        </p:txBody>
      </p:sp>
      <p:sp>
        <p:nvSpPr>
          <p:cNvPr id="4" name="TextBox 3"/>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5" name="TextBox 4"/>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Before: paper, email and a hand-checked ledger</a:t>
            </a:r>
          </a:p>
        </p:txBody>
      </p:sp>
      <p:sp>
        <p:nvSpPr>
          <p:cNvPr id="3" name="Rectangle 2"/>
          <p:cNvSpPr/>
          <p:nvPr/>
        </p:nvSpPr>
        <p:spPr>
          <a:xfrm>
            <a:off x="609600" y="1879600"/>
            <a:ext cx="10972800" cy="706966"/>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1200" y="1879600"/>
            <a:ext cx="1600200" cy="706966"/>
          </a:xfrm>
          <a:prstGeom prst="rect">
            <a:avLst/>
          </a:prstGeom>
          <a:noFill/>
        </p:spPr>
        <p:txBody>
          <a:bodyPr wrap="square" anchor="ctr" lIns="0" rIns="0" tIns="0" bIns="0">
            <a:spAutoFit/>
          </a:bodyPr>
          <a:lstStyle/>
          <a:p>
            <a:pPr algn="l"/>
            <a:r>
              <a:rPr sz="1200" b="1">
                <a:solidFill>
                  <a:srgbClr val="16232B"/>
                </a:solidFill>
                <a:latin typeface="Arial"/>
              </a:rPr>
              <a:t>Sales</a:t>
            </a:r>
          </a:p>
        </p:txBody>
      </p:sp>
      <p:sp>
        <p:nvSpPr>
          <p:cNvPr id="5" name="TextBox 4"/>
          <p:cNvSpPr txBox="1"/>
          <p:nvPr/>
        </p:nvSpPr>
        <p:spPr>
          <a:xfrm>
            <a:off x="711200" y="2586566"/>
            <a:ext cx="1600200" cy="706966"/>
          </a:xfrm>
          <a:prstGeom prst="rect">
            <a:avLst/>
          </a:prstGeom>
          <a:noFill/>
        </p:spPr>
        <p:txBody>
          <a:bodyPr wrap="square" anchor="ctr" lIns="0" rIns="0" tIns="0" bIns="0">
            <a:spAutoFit/>
          </a:bodyPr>
          <a:lstStyle/>
          <a:p>
            <a:pPr algn="l"/>
            <a:r>
              <a:rPr sz="1200" b="1">
                <a:solidFill>
                  <a:srgbClr val="16232B"/>
                </a:solidFill>
                <a:latin typeface="Arial"/>
              </a:rPr>
              <a:t>Logistics</a:t>
            </a:r>
          </a:p>
        </p:txBody>
      </p:sp>
      <p:sp>
        <p:nvSpPr>
          <p:cNvPr id="6" name="Rectangle 5"/>
          <p:cNvSpPr/>
          <p:nvPr/>
        </p:nvSpPr>
        <p:spPr>
          <a:xfrm>
            <a:off x="609600" y="3293533"/>
            <a:ext cx="10972800" cy="706966"/>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1200" y="3293533"/>
            <a:ext cx="1600200" cy="706966"/>
          </a:xfrm>
          <a:prstGeom prst="rect">
            <a:avLst/>
          </a:prstGeom>
          <a:noFill/>
        </p:spPr>
        <p:txBody>
          <a:bodyPr wrap="square" anchor="ctr" lIns="0" rIns="0" tIns="0" bIns="0">
            <a:spAutoFit/>
          </a:bodyPr>
          <a:lstStyle/>
          <a:p>
            <a:pPr algn="l"/>
            <a:r>
              <a:rPr sz="1200" b="1">
                <a:solidFill>
                  <a:srgbClr val="16232B"/>
                </a:solidFill>
                <a:latin typeface="Arial"/>
              </a:rPr>
              <a:t>Purchasing</a:t>
            </a:r>
          </a:p>
        </p:txBody>
      </p:sp>
      <p:sp>
        <p:nvSpPr>
          <p:cNvPr id="8" name="TextBox 7"/>
          <p:cNvSpPr txBox="1"/>
          <p:nvPr/>
        </p:nvSpPr>
        <p:spPr>
          <a:xfrm>
            <a:off x="711200" y="4000500"/>
            <a:ext cx="1600200" cy="706966"/>
          </a:xfrm>
          <a:prstGeom prst="rect">
            <a:avLst/>
          </a:prstGeom>
          <a:noFill/>
        </p:spPr>
        <p:txBody>
          <a:bodyPr wrap="square" anchor="ctr" lIns="0" rIns="0" tIns="0" bIns="0">
            <a:spAutoFit/>
          </a:bodyPr>
          <a:lstStyle/>
          <a:p>
            <a:pPr algn="l"/>
            <a:r>
              <a:rPr sz="1200" b="1">
                <a:solidFill>
                  <a:srgbClr val="16232B"/>
                </a:solidFill>
                <a:latin typeface="Arial"/>
              </a:rPr>
              <a:t>Warehouse</a:t>
            </a:r>
          </a:p>
        </p:txBody>
      </p:sp>
      <p:sp>
        <p:nvSpPr>
          <p:cNvPr id="9" name="Rectangle 8"/>
          <p:cNvSpPr/>
          <p:nvPr/>
        </p:nvSpPr>
        <p:spPr>
          <a:xfrm>
            <a:off x="609600" y="4707466"/>
            <a:ext cx="10972800" cy="706966"/>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1200" y="4707466"/>
            <a:ext cx="1600200" cy="706966"/>
          </a:xfrm>
          <a:prstGeom prst="rect">
            <a:avLst/>
          </a:prstGeom>
          <a:noFill/>
        </p:spPr>
        <p:txBody>
          <a:bodyPr wrap="square" anchor="ctr" lIns="0" rIns="0" tIns="0" bIns="0">
            <a:spAutoFit/>
          </a:bodyPr>
          <a:lstStyle/>
          <a:p>
            <a:pPr algn="l"/>
            <a:r>
              <a:rPr sz="1200" b="1">
                <a:solidFill>
                  <a:srgbClr val="16232B"/>
                </a:solidFill>
                <a:latin typeface="Arial"/>
              </a:rPr>
              <a:t>Production</a:t>
            </a:r>
          </a:p>
        </p:txBody>
      </p:sp>
      <p:sp>
        <p:nvSpPr>
          <p:cNvPr id="11" name="TextBox 10"/>
          <p:cNvSpPr txBox="1"/>
          <p:nvPr/>
        </p:nvSpPr>
        <p:spPr>
          <a:xfrm>
            <a:off x="711200" y="5414433"/>
            <a:ext cx="1600200" cy="706966"/>
          </a:xfrm>
          <a:prstGeom prst="rect">
            <a:avLst/>
          </a:prstGeom>
          <a:noFill/>
        </p:spPr>
        <p:txBody>
          <a:bodyPr wrap="square" anchor="ctr" lIns="0" rIns="0" tIns="0" bIns="0">
            <a:spAutoFit/>
          </a:bodyPr>
          <a:lstStyle/>
          <a:p>
            <a:pPr algn="l"/>
            <a:r>
              <a:rPr sz="1200" b="1">
                <a:solidFill>
                  <a:srgbClr val="16232B"/>
                </a:solidFill>
                <a:latin typeface="Arial"/>
              </a:rPr>
              <a:t>Accounting</a:t>
            </a:r>
          </a:p>
        </p:txBody>
      </p:sp>
      <p:cxnSp>
        <p:nvCxnSpPr>
          <p:cNvPr id="12" name="Connector 11"/>
          <p:cNvCxnSpPr/>
          <p:nvPr/>
        </p:nvCxnSpPr>
        <p:spPr>
          <a:xfrm>
            <a:off x="609600" y="61214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54300" y="1955800"/>
            <a:ext cx="1138766" cy="554566"/>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Write paper order</a:t>
            </a:r>
          </a:p>
        </p:txBody>
      </p:sp>
      <p:sp>
        <p:nvSpPr>
          <p:cNvPr id="14" name="Rounded Rectangle 13"/>
          <p:cNvSpPr/>
          <p:nvPr/>
        </p:nvSpPr>
        <p:spPr>
          <a:xfrm>
            <a:off x="4174066" y="2662766"/>
            <a:ext cx="1138766" cy="554566"/>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Walk the shelves</a:t>
            </a:r>
          </a:p>
        </p:txBody>
      </p:sp>
      <p:sp>
        <p:nvSpPr>
          <p:cNvPr id="15" name="Rounded Rectangle 14"/>
          <p:cNvSpPr/>
          <p:nvPr/>
        </p:nvSpPr>
        <p:spPr>
          <a:xfrm>
            <a:off x="5693833" y="3369733"/>
            <a:ext cx="1138766" cy="554566"/>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Email the supplier</a:t>
            </a:r>
          </a:p>
        </p:txBody>
      </p:sp>
      <p:sp>
        <p:nvSpPr>
          <p:cNvPr id="16" name="Rounded Rectangle 15"/>
          <p:cNvSpPr/>
          <p:nvPr/>
        </p:nvSpPr>
        <p:spPr>
          <a:xfrm>
            <a:off x="7213600" y="4783666"/>
            <a:ext cx="1138766" cy="554566"/>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Build from job card</a:t>
            </a:r>
          </a:p>
        </p:txBody>
      </p:sp>
      <p:sp>
        <p:nvSpPr>
          <p:cNvPr id="17" name="Rounded Rectangle 16"/>
          <p:cNvSpPr/>
          <p:nvPr/>
        </p:nvSpPr>
        <p:spPr>
          <a:xfrm>
            <a:off x="8733366" y="4076700"/>
            <a:ext cx="1138766" cy="554566"/>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Ship with paper note</a:t>
            </a:r>
          </a:p>
        </p:txBody>
      </p:sp>
      <p:sp>
        <p:nvSpPr>
          <p:cNvPr id="18" name="Rounded Rectangle 17"/>
          <p:cNvSpPr/>
          <p:nvPr/>
        </p:nvSpPr>
        <p:spPr>
          <a:xfrm>
            <a:off x="10253133" y="5490633"/>
            <a:ext cx="1138766" cy="554566"/>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Match invoices by hand</a:t>
            </a:r>
          </a:p>
        </p:txBody>
      </p:sp>
      <p:cxnSp>
        <p:nvCxnSpPr>
          <p:cNvPr id="19" name="Connector 18"/>
          <p:cNvCxnSpPr/>
          <p:nvPr/>
        </p:nvCxnSpPr>
        <p:spPr>
          <a:xfrm>
            <a:off x="3793066" y="2233083"/>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059766" y="2233083"/>
            <a:ext cx="0" cy="706967"/>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059766" y="2940050"/>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107266" y="2484966"/>
            <a:ext cx="952500" cy="215900"/>
          </a:xfrm>
          <a:prstGeom prst="rect">
            <a:avLst/>
          </a:prstGeom>
          <a:noFill/>
        </p:spPr>
        <p:txBody>
          <a:bodyPr wrap="square" anchor="t" lIns="0" rIns="0" tIns="0" bIns="0">
            <a:spAutoFit/>
          </a:bodyPr>
          <a:lstStyle/>
          <a:p>
            <a:pPr algn="r"/>
            <a:r>
              <a:rPr sz="1200" b="0">
                <a:solidFill>
                  <a:srgbClr val="5B6B73"/>
                </a:solidFill>
                <a:latin typeface="Arial"/>
              </a:rPr>
              <a:t>form carried</a:t>
            </a:r>
          </a:p>
        </p:txBody>
      </p:sp>
      <p:cxnSp>
        <p:nvCxnSpPr>
          <p:cNvPr id="23" name="Connector 22"/>
          <p:cNvCxnSpPr/>
          <p:nvPr/>
        </p:nvCxnSpPr>
        <p:spPr>
          <a:xfrm>
            <a:off x="5312833" y="2940050"/>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579533" y="2940050"/>
            <a:ext cx="0" cy="706966"/>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579533" y="3647016"/>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627033" y="3191933"/>
            <a:ext cx="952500" cy="215900"/>
          </a:xfrm>
          <a:prstGeom prst="rect">
            <a:avLst/>
          </a:prstGeom>
          <a:noFill/>
        </p:spPr>
        <p:txBody>
          <a:bodyPr wrap="square" anchor="t" lIns="0" rIns="0" tIns="0" bIns="0">
            <a:spAutoFit/>
          </a:bodyPr>
          <a:lstStyle/>
          <a:p>
            <a:pPr algn="r"/>
            <a:r>
              <a:rPr sz="1200" b="0">
                <a:solidFill>
                  <a:srgbClr val="5B6B73"/>
                </a:solidFill>
                <a:latin typeface="Arial"/>
              </a:rPr>
              <a:t>short</a:t>
            </a:r>
          </a:p>
        </p:txBody>
      </p:sp>
      <p:cxnSp>
        <p:nvCxnSpPr>
          <p:cNvPr id="27" name="Connector 26"/>
          <p:cNvCxnSpPr/>
          <p:nvPr/>
        </p:nvCxnSpPr>
        <p:spPr>
          <a:xfrm>
            <a:off x="5312833" y="2940050"/>
            <a:ext cx="3306233"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619066" y="2940050"/>
            <a:ext cx="0" cy="1413933"/>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619066" y="4353983"/>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666566" y="3545416"/>
            <a:ext cx="952500" cy="215900"/>
          </a:xfrm>
          <a:prstGeom prst="rect">
            <a:avLst/>
          </a:prstGeom>
          <a:noFill/>
        </p:spPr>
        <p:txBody>
          <a:bodyPr wrap="square" anchor="t" lIns="0" rIns="0" tIns="0" bIns="0">
            <a:spAutoFit/>
          </a:bodyPr>
          <a:lstStyle/>
          <a:p>
            <a:pPr algn="r"/>
            <a:r>
              <a:rPr sz="1200" b="0">
                <a:solidFill>
                  <a:srgbClr val="5B6B73"/>
                </a:solidFill>
                <a:latin typeface="Arial"/>
              </a:rPr>
              <a:t>in stock</a:t>
            </a:r>
          </a:p>
        </p:txBody>
      </p:sp>
      <p:cxnSp>
        <p:nvCxnSpPr>
          <p:cNvPr id="31" name="Connector 30"/>
          <p:cNvCxnSpPr/>
          <p:nvPr/>
        </p:nvCxnSpPr>
        <p:spPr>
          <a:xfrm>
            <a:off x="6832600" y="3647016"/>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099300" y="3647016"/>
            <a:ext cx="0" cy="1413933"/>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099300" y="5060949"/>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8352366" y="5060949"/>
            <a:ext cx="1778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8530166" y="4353983"/>
            <a:ext cx="0" cy="706966"/>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8530166" y="4353983"/>
            <a:ext cx="2032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872133" y="4353983"/>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38833" y="4353983"/>
            <a:ext cx="0" cy="1413933"/>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138833" y="5767916"/>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186333" y="4959350"/>
            <a:ext cx="952500" cy="215900"/>
          </a:xfrm>
          <a:prstGeom prst="rect">
            <a:avLst/>
          </a:prstGeom>
          <a:noFill/>
        </p:spPr>
        <p:txBody>
          <a:bodyPr wrap="square" anchor="t" lIns="0" rIns="0" tIns="0" bIns="0">
            <a:spAutoFit/>
          </a:bodyPr>
          <a:lstStyle/>
          <a:p>
            <a:pPr algn="r"/>
            <a:r>
              <a:rPr sz="1200" b="0">
                <a:solidFill>
                  <a:srgbClr val="5B6B73"/>
                </a:solidFill>
                <a:latin typeface="Arial"/>
              </a:rPr>
              <a:t>paper copies</a:t>
            </a:r>
          </a:p>
        </p:txBody>
      </p:sp>
      <p:sp>
        <p:nvSpPr>
          <p:cNvPr id="41" name="TextBox 40"/>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42" name="TextBox 41"/>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What was done: states first, then everything that depends on them</a:t>
            </a:r>
          </a:p>
        </p:txBody>
      </p:sp>
      <p:sp>
        <p:nvSpPr>
          <p:cNvPr id="3" name="Rectangle 2"/>
          <p:cNvSpPr/>
          <p:nvPr/>
        </p:nvSpPr>
        <p:spPr>
          <a:xfrm>
            <a:off x="609600" y="2159000"/>
            <a:ext cx="457200" cy="457200"/>
          </a:xfrm>
          <a:prstGeom prst="rect">
            <a:avLst/>
          </a:prstGeom>
          <a:solidFill>
            <a:srgbClr val="1D5C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r>
              <a:rPr sz="1800" b="1">
                <a:solidFill>
                  <a:srgbClr val="FFFFFF"/>
                </a:solidFill>
                <a:latin typeface="Arial"/>
              </a:rPr>
              <a:t>1</a:t>
            </a:r>
          </a:p>
        </p:txBody>
      </p:sp>
      <p:cxnSp>
        <p:nvCxnSpPr>
          <p:cNvPr id="4" name="Connector 3"/>
          <p:cNvCxnSpPr/>
          <p:nvPr/>
        </p:nvCxnSpPr>
        <p:spPr>
          <a:xfrm>
            <a:off x="1168400" y="2387600"/>
            <a:ext cx="159512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2794000"/>
            <a:ext cx="1950720" cy="635000"/>
          </a:xfrm>
          <a:prstGeom prst="rect">
            <a:avLst/>
          </a:prstGeom>
          <a:noFill/>
        </p:spPr>
        <p:txBody>
          <a:bodyPr wrap="square" anchor="t" lIns="0" rIns="0" tIns="0" bIns="0">
            <a:spAutoFit/>
          </a:bodyPr>
          <a:lstStyle/>
          <a:p>
            <a:pPr algn="l"/>
            <a:r>
              <a:rPr sz="1800" b="1">
                <a:solidFill>
                  <a:srgbClr val="16232B"/>
                </a:solidFill>
                <a:latin typeface="Arial"/>
              </a:rPr>
              <a:t>Discovery</a:t>
            </a:r>
          </a:p>
        </p:txBody>
      </p:sp>
      <p:sp>
        <p:nvSpPr>
          <p:cNvPr id="6" name="TextBox 5"/>
          <p:cNvSpPr txBox="1"/>
          <p:nvPr/>
        </p:nvSpPr>
        <p:spPr>
          <a:xfrm>
            <a:off x="609600" y="3429000"/>
            <a:ext cx="1950720" cy="2413000"/>
          </a:xfrm>
          <a:prstGeom prst="rect">
            <a:avLst/>
          </a:prstGeom>
          <a:noFill/>
        </p:spPr>
        <p:txBody>
          <a:bodyPr wrap="square" anchor="t" lIns="0" rIns="0" tIns="0" bIns="0">
            <a:spAutoFit/>
          </a:bodyPr>
          <a:lstStyle/>
          <a:p>
            <a:pPr algn="l"/>
            <a:r>
              <a:rPr sz="1500" b="0">
                <a:solidFill>
                  <a:srgbClr val="16232B"/>
                </a:solidFill>
                <a:latin typeface="Arial"/>
              </a:rPr>
              <a:t>When may each document still change, and who may change it?</a:t>
            </a:r>
          </a:p>
        </p:txBody>
      </p:sp>
      <p:sp>
        <p:nvSpPr>
          <p:cNvPr id="7" name="Rectangle 6"/>
          <p:cNvSpPr/>
          <p:nvPr/>
        </p:nvSpPr>
        <p:spPr>
          <a:xfrm>
            <a:off x="2865120" y="2159000"/>
            <a:ext cx="457200" cy="457200"/>
          </a:xfrm>
          <a:prstGeom prst="rect">
            <a:avLst/>
          </a:prstGeom>
          <a:solidFill>
            <a:srgbClr val="90691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r>
              <a:rPr sz="1800" b="1">
                <a:solidFill>
                  <a:srgbClr val="FFFFFF"/>
                </a:solidFill>
                <a:latin typeface="Arial"/>
              </a:rPr>
              <a:t>2</a:t>
            </a:r>
          </a:p>
        </p:txBody>
      </p:sp>
      <p:cxnSp>
        <p:nvCxnSpPr>
          <p:cNvPr id="8" name="Connector 7"/>
          <p:cNvCxnSpPr/>
          <p:nvPr/>
        </p:nvCxnSpPr>
        <p:spPr>
          <a:xfrm>
            <a:off x="3423920" y="2387600"/>
            <a:ext cx="159512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865120" y="2794000"/>
            <a:ext cx="1950720" cy="635000"/>
          </a:xfrm>
          <a:prstGeom prst="rect">
            <a:avLst/>
          </a:prstGeom>
          <a:noFill/>
        </p:spPr>
        <p:txBody>
          <a:bodyPr wrap="square" anchor="t" lIns="0" rIns="0" tIns="0" bIns="0">
            <a:spAutoFit/>
          </a:bodyPr>
          <a:lstStyle/>
          <a:p>
            <a:pPr algn="l"/>
            <a:r>
              <a:rPr sz="1800" b="1">
                <a:solidFill>
                  <a:srgbClr val="16232B"/>
                </a:solidFill>
                <a:latin typeface="Arial"/>
              </a:rPr>
              <a:t>A state model</a:t>
            </a:r>
          </a:p>
        </p:txBody>
      </p:sp>
      <p:sp>
        <p:nvSpPr>
          <p:cNvPr id="10" name="TextBox 9"/>
          <p:cNvSpPr txBox="1"/>
          <p:nvPr/>
        </p:nvSpPr>
        <p:spPr>
          <a:xfrm>
            <a:off x="2865120" y="3429000"/>
            <a:ext cx="1950720" cy="2413000"/>
          </a:xfrm>
          <a:prstGeom prst="rect">
            <a:avLst/>
          </a:prstGeom>
          <a:noFill/>
        </p:spPr>
        <p:txBody>
          <a:bodyPr wrap="square" anchor="t" lIns="0" rIns="0" tIns="0" bIns="0">
            <a:spAutoFit/>
          </a:bodyPr>
          <a:lstStyle/>
          <a:p>
            <a:pPr algn="l"/>
            <a:r>
              <a:rPr sz="1500" b="0">
                <a:solidFill>
                  <a:srgbClr val="16232B"/>
                </a:solidFill>
                <a:latin typeface="Arial"/>
              </a:rPr>
              <a:t>Seven documents: states, allowed moves, refused moves</a:t>
            </a:r>
          </a:p>
        </p:txBody>
      </p:sp>
      <p:sp>
        <p:nvSpPr>
          <p:cNvPr id="11" name="Rectangle 10"/>
          <p:cNvSpPr/>
          <p:nvPr/>
        </p:nvSpPr>
        <p:spPr>
          <a:xfrm>
            <a:off x="5120640" y="2159000"/>
            <a:ext cx="457200" cy="457200"/>
          </a:xfrm>
          <a:prstGeom prst="rect">
            <a:avLst/>
          </a:prstGeom>
          <a:solidFill>
            <a:srgbClr val="5C6E9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r>
              <a:rPr sz="1800" b="1">
                <a:solidFill>
                  <a:srgbClr val="FFFFFF"/>
                </a:solidFill>
                <a:latin typeface="Arial"/>
              </a:rPr>
              <a:t>3</a:t>
            </a:r>
          </a:p>
        </p:txBody>
      </p:sp>
      <p:cxnSp>
        <p:nvCxnSpPr>
          <p:cNvPr id="12" name="Connector 11"/>
          <p:cNvCxnSpPr/>
          <p:nvPr/>
        </p:nvCxnSpPr>
        <p:spPr>
          <a:xfrm>
            <a:off x="5679440" y="2387600"/>
            <a:ext cx="1595119"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120640" y="2794000"/>
            <a:ext cx="1950720" cy="635000"/>
          </a:xfrm>
          <a:prstGeom prst="rect">
            <a:avLst/>
          </a:prstGeom>
          <a:noFill/>
        </p:spPr>
        <p:txBody>
          <a:bodyPr wrap="square" anchor="t" lIns="0" rIns="0" tIns="0" bIns="0">
            <a:spAutoFit/>
          </a:bodyPr>
          <a:lstStyle/>
          <a:p>
            <a:pPr algn="l"/>
            <a:r>
              <a:rPr sz="1800" b="1">
                <a:solidFill>
                  <a:srgbClr val="16232B"/>
                </a:solidFill>
                <a:latin typeface="Arial"/>
              </a:rPr>
              <a:t>Owners decide</a:t>
            </a:r>
          </a:p>
        </p:txBody>
      </p:sp>
      <p:sp>
        <p:nvSpPr>
          <p:cNvPr id="14" name="TextBox 13"/>
          <p:cNvSpPr txBox="1"/>
          <p:nvPr/>
        </p:nvSpPr>
        <p:spPr>
          <a:xfrm>
            <a:off x="5120640" y="3429000"/>
            <a:ext cx="1950720" cy="2413000"/>
          </a:xfrm>
          <a:prstGeom prst="rect">
            <a:avLst/>
          </a:prstGeom>
          <a:noFill/>
        </p:spPr>
        <p:txBody>
          <a:bodyPr wrap="square" anchor="t" lIns="0" rIns="0" tIns="0" bIns="0">
            <a:spAutoFit/>
          </a:bodyPr>
          <a:lstStyle/>
          <a:p>
            <a:pPr algn="l"/>
            <a:r>
              <a:rPr sz="1500" b="0">
                <a:solidFill>
                  <a:srgbClr val="16232B"/>
                </a:solidFill>
                <a:latin typeface="Arial"/>
              </a:rPr>
              <a:t>Approval, posting, credit and closure policy stay with the business</a:t>
            </a:r>
          </a:p>
        </p:txBody>
      </p:sp>
      <p:sp>
        <p:nvSpPr>
          <p:cNvPr id="15" name="Rectangle 14"/>
          <p:cNvSpPr/>
          <p:nvPr/>
        </p:nvSpPr>
        <p:spPr>
          <a:xfrm>
            <a:off x="7376159" y="2159000"/>
            <a:ext cx="457200" cy="457200"/>
          </a:xfrm>
          <a:prstGeom prst="rect">
            <a:avLst/>
          </a:prstGeom>
          <a:solidFill>
            <a:srgbClr val="8F4E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r>
              <a:rPr sz="1800" b="1">
                <a:solidFill>
                  <a:srgbClr val="FFFFFF"/>
                </a:solidFill>
                <a:latin typeface="Arial"/>
              </a:rPr>
              <a:t>4</a:t>
            </a:r>
          </a:p>
        </p:txBody>
      </p:sp>
      <p:cxnSp>
        <p:nvCxnSpPr>
          <p:cNvPr id="16" name="Connector 15"/>
          <p:cNvCxnSpPr/>
          <p:nvPr/>
        </p:nvCxnSpPr>
        <p:spPr>
          <a:xfrm>
            <a:off x="7934959" y="2387600"/>
            <a:ext cx="1595121"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76159" y="2794000"/>
            <a:ext cx="1950720" cy="635000"/>
          </a:xfrm>
          <a:prstGeom prst="rect">
            <a:avLst/>
          </a:prstGeom>
          <a:noFill/>
        </p:spPr>
        <p:txBody>
          <a:bodyPr wrap="square" anchor="t" lIns="0" rIns="0" tIns="0" bIns="0">
            <a:spAutoFit/>
          </a:bodyPr>
          <a:lstStyle/>
          <a:p>
            <a:pPr algn="l"/>
            <a:r>
              <a:rPr sz="1800" b="1">
                <a:solidFill>
                  <a:srgbClr val="16232B"/>
                </a:solidFill>
                <a:latin typeface="Arial"/>
              </a:rPr>
              <a:t>Acceptance first</a:t>
            </a:r>
          </a:p>
        </p:txBody>
      </p:sp>
      <p:sp>
        <p:nvSpPr>
          <p:cNvPr id="18" name="TextBox 17"/>
          <p:cNvSpPr txBox="1"/>
          <p:nvPr/>
        </p:nvSpPr>
        <p:spPr>
          <a:xfrm>
            <a:off x="7376159" y="3429000"/>
            <a:ext cx="1950720" cy="2413000"/>
          </a:xfrm>
          <a:prstGeom prst="rect">
            <a:avLst/>
          </a:prstGeom>
          <a:noFill/>
        </p:spPr>
        <p:txBody>
          <a:bodyPr wrap="square" anchor="t" lIns="0" rIns="0" tIns="0" bIns="0">
            <a:spAutoFit/>
          </a:bodyPr>
          <a:lstStyle/>
          <a:p>
            <a:pPr algn="l"/>
            <a:r>
              <a:rPr sz="1500" b="0">
                <a:solidFill>
                  <a:srgbClr val="16232B"/>
                </a:solidFill>
                <a:latin typeface="Arial"/>
              </a:rPr>
              <a:t>Every story error path is a move the model refuses</a:t>
            </a:r>
          </a:p>
        </p:txBody>
      </p:sp>
      <p:sp>
        <p:nvSpPr>
          <p:cNvPr id="19" name="Rectangle 18"/>
          <p:cNvSpPr/>
          <p:nvPr/>
        </p:nvSpPr>
        <p:spPr>
          <a:xfrm>
            <a:off x="9631680" y="2159000"/>
            <a:ext cx="457200" cy="457200"/>
          </a:xfrm>
          <a:prstGeom prst="rect">
            <a:avLst/>
          </a:prstGeom>
          <a:solidFill>
            <a:srgbClr val="527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ctr"/>
            <a:r>
              <a:rPr sz="1800" b="1">
                <a:solidFill>
                  <a:srgbClr val="FFFFFF"/>
                </a:solidFill>
                <a:latin typeface="Arial"/>
              </a:rPr>
              <a:t>5</a:t>
            </a:r>
          </a:p>
        </p:txBody>
      </p:sp>
      <p:sp>
        <p:nvSpPr>
          <p:cNvPr id="20" name="TextBox 19"/>
          <p:cNvSpPr txBox="1"/>
          <p:nvPr/>
        </p:nvSpPr>
        <p:spPr>
          <a:xfrm>
            <a:off x="9631680" y="2794000"/>
            <a:ext cx="1950720" cy="635000"/>
          </a:xfrm>
          <a:prstGeom prst="rect">
            <a:avLst/>
          </a:prstGeom>
          <a:noFill/>
        </p:spPr>
        <p:txBody>
          <a:bodyPr wrap="square" anchor="t" lIns="0" rIns="0" tIns="0" bIns="0">
            <a:spAutoFit/>
          </a:bodyPr>
          <a:lstStyle/>
          <a:p>
            <a:pPr algn="l"/>
            <a:r>
              <a:rPr sz="1800" b="1">
                <a:solidFill>
                  <a:srgbClr val="16232B"/>
                </a:solidFill>
                <a:latin typeface="Arial"/>
              </a:rPr>
              <a:t>A pilot</a:t>
            </a:r>
          </a:p>
        </p:txBody>
      </p:sp>
      <p:sp>
        <p:nvSpPr>
          <p:cNvPr id="21" name="TextBox 20"/>
          <p:cNvSpPr txBox="1"/>
          <p:nvPr/>
        </p:nvSpPr>
        <p:spPr>
          <a:xfrm>
            <a:off x="9631680" y="3429000"/>
            <a:ext cx="1950720" cy="2413000"/>
          </a:xfrm>
          <a:prstGeom prst="rect">
            <a:avLst/>
          </a:prstGeom>
          <a:noFill/>
        </p:spPr>
        <p:txBody>
          <a:bodyPr wrap="square" anchor="t" lIns="0" rIns="0" tIns="0" bIns="0">
            <a:spAutoFit/>
          </a:bodyPr>
          <a:lstStyle/>
          <a:p>
            <a:pPr algn="l"/>
            <a:r>
              <a:rPr sz="1500" b="0">
                <a:solidFill>
                  <a:srgbClr val="16232B"/>
                </a:solidFill>
                <a:latin typeface="Arial"/>
              </a:rPr>
              <a:t>24 people for 8 weeks, then a month in parallel (D2, D12)</a:t>
            </a:r>
          </a:p>
        </p:txBody>
      </p:sp>
      <p:sp>
        <p:nvSpPr>
          <p:cNvPr id="22" name="TextBox 21"/>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23" name="TextBox 22"/>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After, simplified: an order moves forward through named states</a:t>
            </a:r>
          </a:p>
        </p:txBody>
      </p:sp>
      <p:sp>
        <p:nvSpPr>
          <p:cNvPr id="3" name="Rectangle 2"/>
          <p:cNvSpPr/>
          <p:nvPr/>
        </p:nvSpPr>
        <p:spPr>
          <a:xfrm>
            <a:off x="609600" y="1879600"/>
            <a:ext cx="10972800" cy="106045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1200" y="1879600"/>
            <a:ext cx="1600200" cy="1060450"/>
          </a:xfrm>
          <a:prstGeom prst="rect">
            <a:avLst/>
          </a:prstGeom>
          <a:noFill/>
        </p:spPr>
        <p:txBody>
          <a:bodyPr wrap="square" anchor="ctr" lIns="0" rIns="0" tIns="0" bIns="0">
            <a:spAutoFit/>
          </a:bodyPr>
          <a:lstStyle/>
          <a:p>
            <a:pPr algn="l"/>
            <a:r>
              <a:rPr sz="1200" b="1">
                <a:solidFill>
                  <a:srgbClr val="16232B"/>
                </a:solidFill>
                <a:latin typeface="Arial"/>
              </a:rPr>
              <a:t>Sales</a:t>
            </a:r>
          </a:p>
        </p:txBody>
      </p:sp>
      <p:sp>
        <p:nvSpPr>
          <p:cNvPr id="5" name="TextBox 4"/>
          <p:cNvSpPr txBox="1"/>
          <p:nvPr/>
        </p:nvSpPr>
        <p:spPr>
          <a:xfrm>
            <a:off x="711200" y="2940050"/>
            <a:ext cx="1600200" cy="1060450"/>
          </a:xfrm>
          <a:prstGeom prst="rect">
            <a:avLst/>
          </a:prstGeom>
          <a:noFill/>
        </p:spPr>
        <p:txBody>
          <a:bodyPr wrap="square" anchor="ctr" lIns="0" rIns="0" tIns="0" bIns="0">
            <a:spAutoFit/>
          </a:bodyPr>
          <a:lstStyle/>
          <a:p>
            <a:pPr algn="l"/>
            <a:r>
              <a:rPr sz="1200" b="1">
                <a:solidFill>
                  <a:srgbClr val="16232B"/>
                </a:solidFill>
                <a:latin typeface="Arial"/>
              </a:rPr>
              <a:t>Logistics</a:t>
            </a:r>
          </a:p>
        </p:txBody>
      </p:sp>
      <p:sp>
        <p:nvSpPr>
          <p:cNvPr id="6" name="Rectangle 5"/>
          <p:cNvSpPr/>
          <p:nvPr/>
        </p:nvSpPr>
        <p:spPr>
          <a:xfrm>
            <a:off x="609600" y="4000500"/>
            <a:ext cx="10972800" cy="106045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1200" y="4000500"/>
            <a:ext cx="1600200" cy="1060450"/>
          </a:xfrm>
          <a:prstGeom prst="rect">
            <a:avLst/>
          </a:prstGeom>
          <a:noFill/>
        </p:spPr>
        <p:txBody>
          <a:bodyPr wrap="square" anchor="ctr" lIns="0" rIns="0" tIns="0" bIns="0">
            <a:spAutoFit/>
          </a:bodyPr>
          <a:lstStyle/>
          <a:p>
            <a:pPr algn="l"/>
            <a:r>
              <a:rPr sz="1200" b="1">
                <a:solidFill>
                  <a:srgbClr val="16232B"/>
                </a:solidFill>
                <a:latin typeface="Arial"/>
              </a:rPr>
              <a:t>Production</a:t>
            </a:r>
          </a:p>
        </p:txBody>
      </p:sp>
      <p:sp>
        <p:nvSpPr>
          <p:cNvPr id="8" name="TextBox 7"/>
          <p:cNvSpPr txBox="1"/>
          <p:nvPr/>
        </p:nvSpPr>
        <p:spPr>
          <a:xfrm>
            <a:off x="711200" y="5060950"/>
            <a:ext cx="1600200" cy="1060450"/>
          </a:xfrm>
          <a:prstGeom prst="rect">
            <a:avLst/>
          </a:prstGeom>
          <a:noFill/>
        </p:spPr>
        <p:txBody>
          <a:bodyPr wrap="square" anchor="ctr" lIns="0" rIns="0" tIns="0" bIns="0">
            <a:spAutoFit/>
          </a:bodyPr>
          <a:lstStyle/>
          <a:p>
            <a:pPr algn="l"/>
            <a:r>
              <a:rPr sz="1200" b="1">
                <a:solidFill>
                  <a:srgbClr val="16232B"/>
                </a:solidFill>
                <a:latin typeface="Arial"/>
              </a:rPr>
              <a:t>Accounting</a:t>
            </a:r>
          </a:p>
        </p:txBody>
      </p:sp>
      <p:cxnSp>
        <p:nvCxnSpPr>
          <p:cNvPr id="9" name="Connector 8"/>
          <p:cNvCxnSpPr/>
          <p:nvPr/>
        </p:nvCxnSpPr>
        <p:spPr>
          <a:xfrm>
            <a:off x="609600" y="61214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654300" y="2092325"/>
            <a:ext cx="1138766" cy="635000"/>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Confirm order; credit check</a:t>
            </a:r>
          </a:p>
        </p:txBody>
      </p:sp>
      <p:sp>
        <p:nvSpPr>
          <p:cNvPr id="11" name="Rounded Rectangle 10"/>
          <p:cNvSpPr/>
          <p:nvPr/>
        </p:nvSpPr>
        <p:spPr>
          <a:xfrm>
            <a:off x="4174066" y="3152775"/>
            <a:ext cx="1138766" cy="635000"/>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Check finished stock</a:t>
            </a:r>
          </a:p>
        </p:txBody>
      </p:sp>
      <p:sp>
        <p:nvSpPr>
          <p:cNvPr id="12" name="Rounded Rectangle 11"/>
          <p:cNvSpPr/>
          <p:nvPr/>
        </p:nvSpPr>
        <p:spPr>
          <a:xfrm>
            <a:off x="5693833" y="4213225"/>
            <a:ext cx="1138766" cy="635000"/>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Build with issued materials</a:t>
            </a:r>
          </a:p>
        </p:txBody>
      </p:sp>
      <p:sp>
        <p:nvSpPr>
          <p:cNvPr id="13" name="Rounded Rectangle 12"/>
          <p:cNvSpPr/>
          <p:nvPr/>
        </p:nvSpPr>
        <p:spPr>
          <a:xfrm>
            <a:off x="7213600" y="5273675"/>
            <a:ext cx="1138766" cy="635000"/>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Invoice the trip</a:t>
            </a:r>
          </a:p>
        </p:txBody>
      </p:sp>
      <p:sp>
        <p:nvSpPr>
          <p:cNvPr id="14" name="Rounded Rectangle 13"/>
          <p:cNvSpPr/>
          <p:nvPr/>
        </p:nvSpPr>
        <p:spPr>
          <a:xfrm>
            <a:off x="8733366" y="3152775"/>
            <a:ext cx="1138766" cy="635000"/>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Dispatch and deliver</a:t>
            </a:r>
          </a:p>
        </p:txBody>
      </p:sp>
      <p:sp>
        <p:nvSpPr>
          <p:cNvPr id="15" name="Rounded Rectangle 14"/>
          <p:cNvSpPr/>
          <p:nvPr/>
        </p:nvSpPr>
        <p:spPr>
          <a:xfrm>
            <a:off x="10253133" y="5273675"/>
            <a:ext cx="1138766" cy="635000"/>
          </a:xfrm>
          <a:prstGeom prst="roundRect">
            <a:avLst>
              <a:gd name="adj" fmla="val 8000"/>
            </a:avLst>
          </a:prstGeom>
          <a:solidFill>
            <a:srgbClr val="FFFFFF"/>
          </a:solidFill>
          <a:ln w="19050">
            <a:solidFill>
              <a:srgbClr val="1D5C6B"/>
            </a:solidFill>
          </a:ln>
          <a:effectLst/>
        </p:spPr>
        <p:style>
          <a:lnRef idx="1">
            <a:schemeClr val="accent1"/>
          </a:lnRef>
          <a:fillRef idx="3">
            <a:schemeClr val="accent1"/>
          </a:fillRef>
          <a:effectRef idx="2">
            <a:schemeClr val="accent1"/>
          </a:effectRef>
          <a:fontRef idx="minor">
            <a:schemeClr val="lt1"/>
          </a:fontRef>
        </p:style>
        <p:txBody>
          <a:bodyPr rtlCol="0" anchor="ctr" wrap="square" lIns="50800" rIns="50800" tIns="50800" bIns="50800"/>
          <a:lstStyle/>
          <a:p>
            <a:pPr algn="ctr"/>
            <a:r>
              <a:rPr sz="1200">
                <a:solidFill>
                  <a:srgbClr val="16232B"/>
                </a:solidFill>
                <a:latin typeface="Arial"/>
              </a:rPr>
              <a:t>Collect on terms</a:t>
            </a:r>
          </a:p>
        </p:txBody>
      </p:sp>
      <p:cxnSp>
        <p:nvCxnSpPr>
          <p:cNvPr id="16" name="Connector 15"/>
          <p:cNvCxnSpPr/>
          <p:nvPr/>
        </p:nvCxnSpPr>
        <p:spPr>
          <a:xfrm>
            <a:off x="3793066" y="2409825"/>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4059766" y="2409825"/>
            <a:ext cx="0" cy="106045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059766" y="3470275"/>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107266" y="2838450"/>
            <a:ext cx="952500" cy="215900"/>
          </a:xfrm>
          <a:prstGeom prst="rect">
            <a:avLst/>
          </a:prstGeom>
          <a:noFill/>
        </p:spPr>
        <p:txBody>
          <a:bodyPr wrap="square" anchor="t" lIns="0" rIns="0" tIns="0" bIns="0">
            <a:spAutoFit/>
          </a:bodyPr>
          <a:lstStyle/>
          <a:p>
            <a:pPr algn="r"/>
            <a:r>
              <a:rPr sz="1200" b="0">
                <a:solidFill>
                  <a:srgbClr val="5B6B73"/>
                </a:solidFill>
                <a:latin typeface="Arial"/>
              </a:rPr>
              <a:t>locks sales</a:t>
            </a:r>
          </a:p>
        </p:txBody>
      </p:sp>
      <p:cxnSp>
        <p:nvCxnSpPr>
          <p:cNvPr id="20" name="Connector 19"/>
          <p:cNvCxnSpPr/>
          <p:nvPr/>
        </p:nvCxnSpPr>
        <p:spPr>
          <a:xfrm>
            <a:off x="5312833" y="3470275"/>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5579533" y="3470275"/>
            <a:ext cx="0" cy="106045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5579533" y="4530725"/>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627033" y="3898900"/>
            <a:ext cx="952500" cy="215900"/>
          </a:xfrm>
          <a:prstGeom prst="rect">
            <a:avLst/>
          </a:prstGeom>
          <a:noFill/>
        </p:spPr>
        <p:txBody>
          <a:bodyPr wrap="square" anchor="t" lIns="0" rIns="0" tIns="0" bIns="0">
            <a:spAutoFit/>
          </a:bodyPr>
          <a:lstStyle/>
          <a:p>
            <a:pPr algn="r"/>
            <a:r>
              <a:rPr sz="1200" b="0">
                <a:solidFill>
                  <a:srgbClr val="5B6B73"/>
                </a:solidFill>
                <a:latin typeface="Arial"/>
              </a:rPr>
              <a:t>to build</a:t>
            </a:r>
          </a:p>
        </p:txBody>
      </p:sp>
      <p:cxnSp>
        <p:nvCxnSpPr>
          <p:cNvPr id="24" name="Connector 23"/>
          <p:cNvCxnSpPr/>
          <p:nvPr/>
        </p:nvCxnSpPr>
        <p:spPr>
          <a:xfrm>
            <a:off x="5312833" y="3470275"/>
            <a:ext cx="1786467"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099300" y="3470275"/>
            <a:ext cx="0" cy="212090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99300" y="5591175"/>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832600" y="4530725"/>
            <a:ext cx="1778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010400" y="4530725"/>
            <a:ext cx="0" cy="106045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010400" y="5591175"/>
            <a:ext cx="2032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352366" y="5591175"/>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619066" y="3470275"/>
            <a:ext cx="0" cy="212090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619066" y="3470275"/>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666566" y="4429125"/>
            <a:ext cx="952500" cy="215900"/>
          </a:xfrm>
          <a:prstGeom prst="rect">
            <a:avLst/>
          </a:prstGeom>
          <a:noFill/>
        </p:spPr>
        <p:txBody>
          <a:bodyPr wrap="square" anchor="t" lIns="0" rIns="0" tIns="0" bIns="0">
            <a:spAutoFit/>
          </a:bodyPr>
          <a:lstStyle/>
          <a:p>
            <a:pPr algn="r"/>
            <a:r>
              <a:rPr sz="1200" b="0">
                <a:solidFill>
                  <a:srgbClr val="5B6B73"/>
                </a:solidFill>
                <a:latin typeface="Arial"/>
              </a:rPr>
              <a:t>invoice raised</a:t>
            </a:r>
          </a:p>
        </p:txBody>
      </p:sp>
      <p:cxnSp>
        <p:nvCxnSpPr>
          <p:cNvPr id="34" name="Connector 33"/>
          <p:cNvCxnSpPr/>
          <p:nvPr/>
        </p:nvCxnSpPr>
        <p:spPr>
          <a:xfrm>
            <a:off x="9872133" y="3470275"/>
            <a:ext cx="266700" cy="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38833" y="3470275"/>
            <a:ext cx="0" cy="2120900"/>
          </a:xfrm>
          <a:prstGeom prst="line">
            <a:avLst/>
          </a:prstGeom>
          <a:ln w="19050">
            <a:solidFill>
              <a:srgbClr val="5B6B73"/>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38833" y="5591175"/>
            <a:ext cx="114300" cy="0"/>
          </a:xfrm>
          <a:prstGeom prst="line">
            <a:avLst/>
          </a:prstGeom>
          <a:ln w="19050">
            <a:solidFill>
              <a:srgbClr val="5B6B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186333" y="4429125"/>
            <a:ext cx="952500" cy="215900"/>
          </a:xfrm>
          <a:prstGeom prst="rect">
            <a:avLst/>
          </a:prstGeom>
          <a:noFill/>
        </p:spPr>
        <p:txBody>
          <a:bodyPr wrap="square" anchor="t" lIns="0" rIns="0" tIns="0" bIns="0">
            <a:spAutoFit/>
          </a:bodyPr>
          <a:lstStyle/>
          <a:p>
            <a:pPr algn="r"/>
            <a:r>
              <a:rPr sz="1200" b="0">
                <a:solidFill>
                  <a:srgbClr val="5B6B73"/>
                </a:solidFill>
                <a:latin typeface="Arial"/>
              </a:rPr>
              <a:t>delivered</a:t>
            </a:r>
          </a:p>
        </p:txBody>
      </p:sp>
      <p:sp>
        <p:nvSpPr>
          <p:cNvPr id="38" name="TextBox 37"/>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39" name="TextBox 38"/>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Every error path is a move the system refuses</a:t>
            </a:r>
          </a:p>
        </p:txBody>
      </p:sp>
      <p:sp>
        <p:nvSpPr>
          <p:cNvPr id="3" name="Rectangle 2"/>
          <p:cNvSpPr/>
          <p:nvPr/>
        </p:nvSpPr>
        <p:spPr>
          <a:xfrm>
            <a:off x="609600" y="2032000"/>
            <a:ext cx="2692400" cy="45720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l"/>
            <a:r>
              <a:rPr sz="1500" b="1">
                <a:solidFill>
                  <a:srgbClr val="16232B"/>
                </a:solidFill>
                <a:latin typeface="Arial"/>
              </a:rPr>
              <a:t>Story</a:t>
            </a:r>
          </a:p>
        </p:txBody>
      </p:sp>
      <p:sp>
        <p:nvSpPr>
          <p:cNvPr id="4" name="Rectangle 3"/>
          <p:cNvSpPr/>
          <p:nvPr/>
        </p:nvSpPr>
        <p:spPr>
          <a:xfrm>
            <a:off x="3403600" y="2032000"/>
            <a:ext cx="5613400" cy="45720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l"/>
            <a:r>
              <a:rPr sz="1500" b="1">
                <a:solidFill>
                  <a:srgbClr val="16232B"/>
                </a:solidFill>
                <a:latin typeface="Arial"/>
              </a:rPr>
              <a:t>The refused move</a:t>
            </a:r>
          </a:p>
        </p:txBody>
      </p:sp>
      <p:sp>
        <p:nvSpPr>
          <p:cNvPr id="5" name="Rectangle 4"/>
          <p:cNvSpPr/>
          <p:nvPr/>
        </p:nvSpPr>
        <p:spPr>
          <a:xfrm>
            <a:off x="9118600" y="2032000"/>
            <a:ext cx="2362200" cy="457200"/>
          </a:xfrm>
          <a:prstGeom prst="rect">
            <a:avLst/>
          </a:prstGeom>
          <a:solidFill>
            <a:srgbClr val="F1F5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l"/>
            <a:r>
              <a:rPr sz="1500" b="1">
                <a:solidFill>
                  <a:srgbClr val="16232B"/>
                </a:solidFill>
                <a:latin typeface="Arial"/>
              </a:rPr>
              <a:t>Signed off by</a:t>
            </a:r>
          </a:p>
        </p:txBody>
      </p:sp>
      <p:cxnSp>
        <p:nvCxnSpPr>
          <p:cNvPr id="6" name="Connector 5"/>
          <p:cNvCxnSpPr/>
          <p:nvPr/>
        </p:nvCxnSpPr>
        <p:spPr>
          <a:xfrm>
            <a:off x="609600" y="24892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2489200"/>
            <a:ext cx="2692400" cy="762000"/>
          </a:xfrm>
          <a:prstGeom prst="rect">
            <a:avLst/>
          </a:prstGeom>
          <a:noFill/>
        </p:spPr>
        <p:txBody>
          <a:bodyPr wrap="square" anchor="ctr" lIns="0" rIns="0" tIns="0" bIns="0">
            <a:spAutoFit/>
          </a:bodyPr>
          <a:lstStyle/>
          <a:p>
            <a:pPr algn="l"/>
            <a:r>
              <a:rPr sz="1500" b="0">
                <a:solidFill>
                  <a:srgbClr val="16232B"/>
                </a:solidFill>
                <a:latin typeface="Arial"/>
              </a:rPr>
              <a:t>Order lifecycle</a:t>
            </a:r>
          </a:p>
        </p:txBody>
      </p:sp>
      <p:sp>
        <p:nvSpPr>
          <p:cNvPr id="8" name="TextBox 7"/>
          <p:cNvSpPr txBox="1"/>
          <p:nvPr/>
        </p:nvSpPr>
        <p:spPr>
          <a:xfrm>
            <a:off x="3403600" y="2489200"/>
            <a:ext cx="5613400" cy="762000"/>
          </a:xfrm>
          <a:prstGeom prst="rect">
            <a:avLst/>
          </a:prstGeom>
          <a:noFill/>
        </p:spPr>
        <p:txBody>
          <a:bodyPr wrap="square" anchor="ctr" lIns="0" rIns="0" tIns="0" bIns="0">
            <a:spAutoFit/>
          </a:bodyPr>
          <a:lstStyle/>
          <a:p>
            <a:pPr algn="l"/>
            <a:r>
              <a:rPr sz="1500" b="0">
                <a:solidFill>
                  <a:srgbClr val="16232B"/>
                </a:solidFill>
                <a:latin typeface="Arial"/>
              </a:rPr>
              <a:t>Sales edits an order that logistics has</a:t>
            </a:r>
          </a:p>
        </p:txBody>
      </p:sp>
      <p:sp>
        <p:nvSpPr>
          <p:cNvPr id="9" name="TextBox 8"/>
          <p:cNvSpPr txBox="1"/>
          <p:nvPr/>
        </p:nvSpPr>
        <p:spPr>
          <a:xfrm>
            <a:off x="9118600" y="2489200"/>
            <a:ext cx="2362200" cy="762000"/>
          </a:xfrm>
          <a:prstGeom prst="rect">
            <a:avLst/>
          </a:prstGeom>
          <a:noFill/>
        </p:spPr>
        <p:txBody>
          <a:bodyPr wrap="square" anchor="ctr" lIns="0" rIns="0" tIns="0" bIns="0">
            <a:spAutoFit/>
          </a:bodyPr>
          <a:lstStyle/>
          <a:p>
            <a:pPr algn="l"/>
            <a:r>
              <a:rPr sz="1500" b="0">
                <a:solidFill>
                  <a:srgbClr val="16232B"/>
                </a:solidFill>
                <a:latin typeface="Arial"/>
              </a:rPr>
              <a:t>Sales</a:t>
            </a:r>
          </a:p>
        </p:txBody>
      </p:sp>
      <p:cxnSp>
        <p:nvCxnSpPr>
          <p:cNvPr id="10" name="Connector 9"/>
          <p:cNvCxnSpPr/>
          <p:nvPr/>
        </p:nvCxnSpPr>
        <p:spPr>
          <a:xfrm>
            <a:off x="609600" y="32512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251200"/>
            <a:ext cx="2692400" cy="762000"/>
          </a:xfrm>
          <a:prstGeom prst="rect">
            <a:avLst/>
          </a:prstGeom>
          <a:noFill/>
        </p:spPr>
        <p:txBody>
          <a:bodyPr wrap="square" anchor="ctr" lIns="0" rIns="0" tIns="0" bIns="0">
            <a:spAutoFit/>
          </a:bodyPr>
          <a:lstStyle/>
          <a:p>
            <a:pPr algn="l"/>
            <a:r>
              <a:rPr sz="1500" b="0">
                <a:solidFill>
                  <a:srgbClr val="16232B"/>
                </a:solidFill>
                <a:latin typeface="Arial"/>
              </a:rPr>
              <a:t>Order closure</a:t>
            </a:r>
          </a:p>
        </p:txBody>
      </p:sp>
      <p:sp>
        <p:nvSpPr>
          <p:cNvPr id="12" name="TextBox 11"/>
          <p:cNvSpPr txBox="1"/>
          <p:nvPr/>
        </p:nvSpPr>
        <p:spPr>
          <a:xfrm>
            <a:off x="3403600" y="3251200"/>
            <a:ext cx="5613400" cy="762000"/>
          </a:xfrm>
          <a:prstGeom prst="rect">
            <a:avLst/>
          </a:prstGeom>
          <a:noFill/>
        </p:spPr>
        <p:txBody>
          <a:bodyPr wrap="square" anchor="ctr" lIns="0" rIns="0" tIns="0" bIns="0">
            <a:spAutoFit/>
          </a:bodyPr>
          <a:lstStyle/>
          <a:p>
            <a:pPr algn="l"/>
            <a:r>
              <a:rPr sz="1500" b="0">
                <a:solidFill>
                  <a:srgbClr val="16232B"/>
                </a:solidFill>
                <a:latin typeface="Arial"/>
              </a:rPr>
              <a:t>Cancel an order already in production</a:t>
            </a:r>
          </a:p>
        </p:txBody>
      </p:sp>
      <p:sp>
        <p:nvSpPr>
          <p:cNvPr id="13" name="TextBox 12"/>
          <p:cNvSpPr txBox="1"/>
          <p:nvPr/>
        </p:nvSpPr>
        <p:spPr>
          <a:xfrm>
            <a:off x="9118600" y="3251200"/>
            <a:ext cx="2362200" cy="762000"/>
          </a:xfrm>
          <a:prstGeom prst="rect">
            <a:avLst/>
          </a:prstGeom>
          <a:noFill/>
        </p:spPr>
        <p:txBody>
          <a:bodyPr wrap="square" anchor="ctr" lIns="0" rIns="0" tIns="0" bIns="0">
            <a:spAutoFit/>
          </a:bodyPr>
          <a:lstStyle/>
          <a:p>
            <a:pPr algn="l"/>
            <a:r>
              <a:rPr sz="1500" b="0">
                <a:solidFill>
                  <a:srgbClr val="16232B"/>
                </a:solidFill>
                <a:latin typeface="Arial"/>
              </a:rPr>
              <a:t>Sales, with logistics</a:t>
            </a:r>
          </a:p>
        </p:txBody>
      </p:sp>
      <p:cxnSp>
        <p:nvCxnSpPr>
          <p:cNvPr id="14" name="Connector 13"/>
          <p:cNvCxnSpPr/>
          <p:nvPr/>
        </p:nvCxnSpPr>
        <p:spPr>
          <a:xfrm>
            <a:off x="609600" y="40132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09600" y="4013200"/>
            <a:ext cx="2692400" cy="762000"/>
          </a:xfrm>
          <a:prstGeom prst="rect">
            <a:avLst/>
          </a:prstGeom>
          <a:noFill/>
        </p:spPr>
        <p:txBody>
          <a:bodyPr wrap="square" anchor="ctr" lIns="0" rIns="0" tIns="0" bIns="0">
            <a:spAutoFit/>
          </a:bodyPr>
          <a:lstStyle/>
          <a:p>
            <a:pPr algn="l"/>
            <a:r>
              <a:rPr sz="1500" b="0">
                <a:solidFill>
                  <a:srgbClr val="16232B"/>
                </a:solidFill>
                <a:latin typeface="Arial"/>
              </a:rPr>
              <a:t>Delivery trip</a:t>
            </a:r>
          </a:p>
        </p:txBody>
      </p:sp>
      <p:sp>
        <p:nvSpPr>
          <p:cNvPr id="16" name="TextBox 15"/>
          <p:cNvSpPr txBox="1"/>
          <p:nvPr/>
        </p:nvSpPr>
        <p:spPr>
          <a:xfrm>
            <a:off x="3403600" y="4013200"/>
            <a:ext cx="5613400" cy="762000"/>
          </a:xfrm>
          <a:prstGeom prst="rect">
            <a:avLst/>
          </a:prstGeom>
          <a:noFill/>
        </p:spPr>
        <p:txBody>
          <a:bodyPr wrap="square" anchor="ctr" lIns="0" rIns="0" tIns="0" bIns="0">
            <a:spAutoFit/>
          </a:bodyPr>
          <a:lstStyle/>
          <a:p>
            <a:pPr algn="l"/>
            <a:r>
              <a:rPr sz="1500" b="0">
                <a:solidFill>
                  <a:srgbClr val="16232B"/>
                </a:solidFill>
                <a:latin typeface="Arial"/>
              </a:rPr>
              <a:t>Dispatch a trip before its invoice is raised</a:t>
            </a:r>
          </a:p>
        </p:txBody>
      </p:sp>
      <p:sp>
        <p:nvSpPr>
          <p:cNvPr id="17" name="TextBox 16"/>
          <p:cNvSpPr txBox="1"/>
          <p:nvPr/>
        </p:nvSpPr>
        <p:spPr>
          <a:xfrm>
            <a:off x="9118600" y="4013200"/>
            <a:ext cx="2362200" cy="762000"/>
          </a:xfrm>
          <a:prstGeom prst="rect">
            <a:avLst/>
          </a:prstGeom>
          <a:noFill/>
        </p:spPr>
        <p:txBody>
          <a:bodyPr wrap="square" anchor="ctr" lIns="0" rIns="0" tIns="0" bIns="0">
            <a:spAutoFit/>
          </a:bodyPr>
          <a:lstStyle/>
          <a:p>
            <a:pPr algn="l"/>
            <a:r>
              <a:rPr sz="1500" b="0">
                <a:solidFill>
                  <a:srgbClr val="16232B"/>
                </a:solidFill>
                <a:latin typeface="Arial"/>
              </a:rPr>
              <a:t>Logistics</a:t>
            </a:r>
          </a:p>
        </p:txBody>
      </p:sp>
      <p:cxnSp>
        <p:nvCxnSpPr>
          <p:cNvPr id="18" name="Connector 17"/>
          <p:cNvCxnSpPr/>
          <p:nvPr/>
        </p:nvCxnSpPr>
        <p:spPr>
          <a:xfrm>
            <a:off x="609600" y="47752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 y="4775200"/>
            <a:ext cx="2692400" cy="762000"/>
          </a:xfrm>
          <a:prstGeom prst="rect">
            <a:avLst/>
          </a:prstGeom>
          <a:noFill/>
        </p:spPr>
        <p:txBody>
          <a:bodyPr wrap="square" anchor="ctr" lIns="0" rIns="0" tIns="0" bIns="0">
            <a:spAutoFit/>
          </a:bodyPr>
          <a:lstStyle/>
          <a:p>
            <a:pPr algn="l"/>
            <a:r>
              <a:rPr sz="1500" b="0">
                <a:solidFill>
                  <a:srgbClr val="16232B"/>
                </a:solidFill>
                <a:latin typeface="Arial"/>
              </a:rPr>
              <a:t>Voucher posting</a:t>
            </a:r>
          </a:p>
        </p:txBody>
      </p:sp>
      <p:sp>
        <p:nvSpPr>
          <p:cNvPr id="20" name="TextBox 19"/>
          <p:cNvSpPr txBox="1"/>
          <p:nvPr/>
        </p:nvSpPr>
        <p:spPr>
          <a:xfrm>
            <a:off x="3403600" y="4775200"/>
            <a:ext cx="5613400" cy="762000"/>
          </a:xfrm>
          <a:prstGeom prst="rect">
            <a:avLst/>
          </a:prstGeom>
          <a:noFill/>
        </p:spPr>
        <p:txBody>
          <a:bodyPr wrap="square" anchor="ctr" lIns="0" rIns="0" tIns="0" bIns="0">
            <a:spAutoFit/>
          </a:bodyPr>
          <a:lstStyle/>
          <a:p>
            <a:pPr algn="l"/>
            <a:r>
              <a:rPr sz="1500" b="0">
                <a:solidFill>
                  <a:srgbClr val="16232B"/>
                </a:solidFill>
                <a:latin typeface="Arial"/>
              </a:rPr>
              <a:t>Edit a posted voucher, or delete any voucher</a:t>
            </a:r>
          </a:p>
        </p:txBody>
      </p:sp>
      <p:sp>
        <p:nvSpPr>
          <p:cNvPr id="21" name="TextBox 20"/>
          <p:cNvSpPr txBox="1"/>
          <p:nvPr/>
        </p:nvSpPr>
        <p:spPr>
          <a:xfrm>
            <a:off x="9118600" y="4775200"/>
            <a:ext cx="2362200" cy="762000"/>
          </a:xfrm>
          <a:prstGeom prst="rect">
            <a:avLst/>
          </a:prstGeom>
          <a:noFill/>
        </p:spPr>
        <p:txBody>
          <a:bodyPr wrap="square" anchor="ctr" lIns="0" rIns="0" tIns="0" bIns="0">
            <a:spAutoFit/>
          </a:bodyPr>
          <a:lstStyle/>
          <a:p>
            <a:pPr algn="l"/>
            <a:r>
              <a:rPr sz="1500" b="0">
                <a:solidFill>
                  <a:srgbClr val="16232B"/>
                </a:solidFill>
                <a:latin typeface="Arial"/>
              </a:rPr>
              <a:t>Chief accountant</a:t>
            </a:r>
          </a:p>
        </p:txBody>
      </p:sp>
      <p:cxnSp>
        <p:nvCxnSpPr>
          <p:cNvPr id="22" name="Connector 21"/>
          <p:cNvCxnSpPr/>
          <p:nvPr/>
        </p:nvCxnSpPr>
        <p:spPr>
          <a:xfrm>
            <a:off x="609600" y="5537200"/>
            <a:ext cx="10972800" cy="0"/>
          </a:xfrm>
          <a:prstGeom prst="line">
            <a:avLst/>
          </a:prstGeom>
          <a:ln w="12700">
            <a:solidFill>
              <a:srgbClr val="D5DDE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09600" y="5740400"/>
            <a:ext cx="10972800" cy="508000"/>
          </a:xfrm>
          <a:prstGeom prst="rect">
            <a:avLst/>
          </a:prstGeom>
          <a:noFill/>
        </p:spPr>
        <p:txBody>
          <a:bodyPr wrap="square" anchor="t" lIns="0" rIns="0" tIns="0" bIns="0">
            <a:spAutoFit/>
          </a:bodyPr>
          <a:lstStyle/>
          <a:p>
            <a:pPr algn="l"/>
            <a:r>
              <a:rPr sz="1200" b="0">
                <a:solidFill>
                  <a:srgbClr val="5B6B73"/>
                </a:solidFill>
                <a:latin typeface="Arial"/>
              </a:rPr>
              <a:t>47 scenarios in 8 stories. The build refuses a story whose error path is not in the state model.</a:t>
            </a:r>
          </a:p>
        </p:txBody>
      </p:sp>
      <p:sp>
        <p:nvSpPr>
          <p:cNvPr id="24" name="TextBox 23"/>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25" name="TextBox 24"/>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Orders reached customers 26% faster, and fewer were left unpaid</a:t>
            </a:r>
          </a:p>
        </p:txBody>
      </p:sp>
      <p:sp>
        <p:nvSpPr>
          <p:cNvPr id="3" name="TextBox 2"/>
          <p:cNvSpPr txBox="1"/>
          <p:nvPr/>
        </p:nvSpPr>
        <p:spPr>
          <a:xfrm>
            <a:off x="609600" y="2095500"/>
            <a:ext cx="3556000" cy="952500"/>
          </a:xfrm>
          <a:prstGeom prst="rect">
            <a:avLst/>
          </a:prstGeom>
          <a:noFill/>
        </p:spPr>
        <p:txBody>
          <a:bodyPr wrap="square" anchor="b" lIns="0" rIns="0" tIns="0" bIns="0">
            <a:spAutoFit/>
          </a:bodyPr>
          <a:lstStyle/>
          <a:p>
            <a:pPr algn="l"/>
            <a:r>
              <a:rPr sz="2200" b="1">
                <a:solidFill>
                  <a:srgbClr val="1D5C6B"/>
                </a:solidFill>
                <a:latin typeface="Arial"/>
              </a:rPr>
              <a:t>17.8 days, from 24.0</a:t>
            </a:r>
          </a:p>
        </p:txBody>
      </p:sp>
      <p:cxnSp>
        <p:nvCxnSpPr>
          <p:cNvPr id="4" name="Connector 3"/>
          <p:cNvCxnSpPr/>
          <p:nvPr/>
        </p:nvCxnSpPr>
        <p:spPr>
          <a:xfrm>
            <a:off x="609600" y="3175000"/>
            <a:ext cx="3556000" cy="0"/>
          </a:xfrm>
          <a:prstGeom prst="line">
            <a:avLst/>
          </a:prstGeom>
          <a:ln w="38100">
            <a:solidFill>
              <a:srgbClr val="1D5C6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609600" y="3365500"/>
            <a:ext cx="3556000" cy="2540000"/>
          </a:xfrm>
          <a:prstGeom prst="rect">
            <a:avLst/>
          </a:prstGeom>
          <a:noFill/>
        </p:spPr>
        <p:txBody>
          <a:bodyPr wrap="square" anchor="t" lIns="0" rIns="0" tIns="0" bIns="0">
            <a:spAutoFit/>
          </a:bodyPr>
          <a:lstStyle/>
          <a:p>
            <a:pPr algn="l"/>
            <a:r>
              <a:rPr sz="1500" b="0">
                <a:solidFill>
                  <a:srgbClr val="16232B"/>
                </a:solidFill>
                <a:latin typeface="Arial"/>
              </a:rPr>
              <a:t>Median days from order to delivery, 300 orders after the pilot against 300 before.</a:t>
            </a:r>
          </a:p>
        </p:txBody>
      </p:sp>
      <p:sp>
        <p:nvSpPr>
          <p:cNvPr id="6" name="TextBox 5"/>
          <p:cNvSpPr txBox="1"/>
          <p:nvPr/>
        </p:nvSpPr>
        <p:spPr>
          <a:xfrm>
            <a:off x="4318000" y="2095500"/>
            <a:ext cx="3556000" cy="952500"/>
          </a:xfrm>
          <a:prstGeom prst="rect">
            <a:avLst/>
          </a:prstGeom>
          <a:noFill/>
        </p:spPr>
        <p:txBody>
          <a:bodyPr wrap="square" anchor="b" lIns="0" rIns="0" tIns="0" bIns="0">
            <a:spAutoFit/>
          </a:bodyPr>
          <a:lstStyle/>
          <a:p>
            <a:pPr algn="l"/>
            <a:r>
              <a:rPr sz="2200" b="1">
                <a:solidFill>
                  <a:srgbClr val="906915"/>
                </a:solidFill>
                <a:latin typeface="Arial"/>
              </a:rPr>
              <a:t>18% overdue, from 34%</a:t>
            </a:r>
          </a:p>
        </p:txBody>
      </p:sp>
      <p:cxnSp>
        <p:nvCxnSpPr>
          <p:cNvPr id="7" name="Connector 6"/>
          <p:cNvCxnSpPr/>
          <p:nvPr/>
        </p:nvCxnSpPr>
        <p:spPr>
          <a:xfrm>
            <a:off x="4318000" y="3175000"/>
            <a:ext cx="3556000" cy="0"/>
          </a:xfrm>
          <a:prstGeom prst="line">
            <a:avLst/>
          </a:prstGeom>
          <a:ln w="38100">
            <a:solidFill>
              <a:srgbClr val="90691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318000" y="3365500"/>
            <a:ext cx="3556000" cy="2540000"/>
          </a:xfrm>
          <a:prstGeom prst="rect">
            <a:avLst/>
          </a:prstGeom>
          <a:noFill/>
        </p:spPr>
        <p:txBody>
          <a:bodyPr wrap="square" anchor="t" lIns="0" rIns="0" tIns="0" bIns="0">
            <a:spAutoFit/>
          </a:bodyPr>
          <a:lstStyle/>
          <a:p>
            <a:pPr algn="l"/>
            <a:r>
              <a:rPr sz="1500" b="0">
                <a:solidFill>
                  <a:srgbClr val="16232B"/>
                </a:solidFill>
                <a:latin typeface="Arial"/>
              </a:rPr>
              <a:t>Share of open receivables past due on 30-day terms, averaged by month.</a:t>
            </a:r>
          </a:p>
        </p:txBody>
      </p:sp>
      <p:sp>
        <p:nvSpPr>
          <p:cNvPr id="9" name="TextBox 8"/>
          <p:cNvSpPr txBox="1"/>
          <p:nvPr/>
        </p:nvSpPr>
        <p:spPr>
          <a:xfrm>
            <a:off x="8026400" y="2095500"/>
            <a:ext cx="3556000" cy="952500"/>
          </a:xfrm>
          <a:prstGeom prst="rect">
            <a:avLst/>
          </a:prstGeom>
          <a:noFill/>
        </p:spPr>
        <p:txBody>
          <a:bodyPr wrap="square" anchor="b" lIns="0" rIns="0" tIns="0" bIns="0">
            <a:spAutoFit/>
          </a:bodyPr>
          <a:lstStyle/>
          <a:p>
            <a:pPr algn="l"/>
            <a:r>
              <a:rPr sz="2200" b="1">
                <a:solidFill>
                  <a:srgbClr val="5C6E99"/>
                </a:solidFill>
                <a:latin typeface="Arial"/>
              </a:rPr>
              <a:t>9.8% rework, from 17.5%</a:t>
            </a:r>
          </a:p>
        </p:txBody>
      </p:sp>
      <p:cxnSp>
        <p:nvCxnSpPr>
          <p:cNvPr id="10" name="Connector 9"/>
          <p:cNvCxnSpPr/>
          <p:nvPr/>
        </p:nvCxnSpPr>
        <p:spPr>
          <a:xfrm>
            <a:off x="8026400" y="3175000"/>
            <a:ext cx="3556000" cy="0"/>
          </a:xfrm>
          <a:prstGeom prst="line">
            <a:avLst/>
          </a:prstGeom>
          <a:ln w="38100">
            <a:solidFill>
              <a:srgbClr val="5C6E99"/>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8026400" y="3365500"/>
            <a:ext cx="3556000" cy="2540000"/>
          </a:xfrm>
          <a:prstGeom prst="rect">
            <a:avLst/>
          </a:prstGeom>
          <a:noFill/>
        </p:spPr>
        <p:txBody>
          <a:bodyPr wrap="square" anchor="t" lIns="0" rIns="0" tIns="0" bIns="0">
            <a:spAutoFit/>
          </a:bodyPr>
          <a:lstStyle/>
          <a:p>
            <a:pPr algn="l"/>
            <a:r>
              <a:rPr sz="1500" b="0">
                <a:solidFill>
                  <a:srgbClr val="16232B"/>
                </a:solidFill>
                <a:latin typeface="Arial"/>
              </a:rPr>
              <a:t>Share of orders needing rework, averaged by month over the twelve months after pilot go-live.</a:t>
            </a:r>
          </a:p>
        </p:txBody>
      </p:sp>
      <p:sp>
        <p:nvSpPr>
          <p:cNvPr id="12" name="TextBox 11"/>
          <p:cNvSpPr txBox="1"/>
          <p:nvPr/>
        </p:nvSpPr>
        <p:spPr>
          <a:xfrm>
            <a:off x="11734800" y="2095500"/>
            <a:ext cx="3556000" cy="952500"/>
          </a:xfrm>
          <a:prstGeom prst="rect">
            <a:avLst/>
          </a:prstGeom>
          <a:noFill/>
        </p:spPr>
        <p:txBody>
          <a:bodyPr wrap="square" anchor="b" lIns="0" rIns="0" tIns="0" bIns="0">
            <a:spAutoFit/>
          </a:bodyPr>
          <a:lstStyle/>
          <a:p>
            <a:pPr algn="l"/>
            <a:r>
              <a:rPr sz="2200" b="1">
                <a:solidFill>
                  <a:srgbClr val="8F4E6B"/>
                </a:solidFill>
                <a:latin typeface="Arial"/>
              </a:rPr>
              <a:t>All 24 by week 7</a:t>
            </a:r>
          </a:p>
        </p:txBody>
      </p:sp>
      <p:cxnSp>
        <p:nvCxnSpPr>
          <p:cNvPr id="13" name="Connector 12"/>
          <p:cNvCxnSpPr/>
          <p:nvPr/>
        </p:nvCxnSpPr>
        <p:spPr>
          <a:xfrm>
            <a:off x="11734800" y="3175000"/>
            <a:ext cx="3556000" cy="0"/>
          </a:xfrm>
          <a:prstGeom prst="line">
            <a:avLst/>
          </a:prstGeom>
          <a:ln w="38100">
            <a:solidFill>
              <a:srgbClr val="8F4E6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1734800" y="3365500"/>
            <a:ext cx="3556000" cy="2540000"/>
          </a:xfrm>
          <a:prstGeom prst="rect">
            <a:avLst/>
          </a:prstGeom>
          <a:noFill/>
        </p:spPr>
        <p:txBody>
          <a:bodyPr wrap="square" anchor="t" lIns="0" rIns="0" tIns="0" bIns="0">
            <a:spAutoFit/>
          </a:bodyPr>
          <a:lstStyle/>
          <a:p>
            <a:pPr algn="l"/>
            <a:r>
              <a:rPr sz="1500" b="0">
                <a:solidFill>
                  <a:srgbClr val="16232B"/>
                </a:solidFill>
                <a:latin typeface="Arial"/>
              </a:rPr>
              <a:t>Pilot group members active in the system each week, over the 8-week pilot.</a:t>
            </a:r>
          </a:p>
        </p:txBody>
      </p:sp>
      <p:sp>
        <p:nvSpPr>
          <p:cNvPr id="15" name="TextBox 14"/>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16" name="TextBox 15"/>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What went wrong, and what changed because of it</a:t>
            </a:r>
          </a:p>
        </p:txBody>
      </p:sp>
      <p:cxnSp>
        <p:nvCxnSpPr>
          <p:cNvPr id="3" name="Connector 2"/>
          <p:cNvCxnSpPr/>
          <p:nvPr/>
        </p:nvCxnSpPr>
        <p:spPr>
          <a:xfrm>
            <a:off x="609600" y="2235200"/>
            <a:ext cx="152400" cy="0"/>
          </a:xfrm>
          <a:prstGeom prst="line">
            <a:avLst/>
          </a:prstGeom>
          <a:ln w="76200">
            <a:solidFill>
              <a:srgbClr val="1D5C6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914400" y="2095500"/>
            <a:ext cx="9804400" cy="762000"/>
          </a:xfrm>
          <a:prstGeom prst="rect">
            <a:avLst/>
          </a:prstGeom>
          <a:noFill/>
        </p:spPr>
        <p:txBody>
          <a:bodyPr wrap="square" anchor="t" lIns="0" rIns="0" tIns="0" bIns="0">
            <a:spAutoFit/>
          </a:bodyPr>
          <a:lstStyle/>
          <a:p>
            <a:pPr algn="l"/>
            <a:r>
              <a:rPr sz="1500" b="0">
                <a:solidFill>
                  <a:srgbClr val="16232B"/>
                </a:solidFill>
                <a:latin typeface="Arial"/>
              </a:rPr>
              <a:t>Collection stayed on paper in the pilot; overdue stayed at 32%</a:t>
            </a:r>
          </a:p>
        </p:txBody>
      </p:sp>
      <p:cxnSp>
        <p:nvCxnSpPr>
          <p:cNvPr id="5" name="Connector 4"/>
          <p:cNvCxnSpPr/>
          <p:nvPr/>
        </p:nvCxnSpPr>
        <p:spPr>
          <a:xfrm>
            <a:off x="609600" y="3187700"/>
            <a:ext cx="152400" cy="0"/>
          </a:xfrm>
          <a:prstGeom prst="line">
            <a:avLst/>
          </a:prstGeom>
          <a:ln w="76200">
            <a:solidFill>
              <a:srgbClr val="1D5C6B"/>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14400" y="3048000"/>
            <a:ext cx="9804400" cy="762000"/>
          </a:xfrm>
          <a:prstGeom prst="rect">
            <a:avLst/>
          </a:prstGeom>
          <a:noFill/>
        </p:spPr>
        <p:txBody>
          <a:bodyPr wrap="square" anchor="t" lIns="0" rIns="0" tIns="0" bIns="0">
            <a:spAutoFit/>
          </a:bodyPr>
          <a:lstStyle/>
          <a:p>
            <a:pPr algn="l"/>
            <a:r>
              <a:rPr sz="1500" b="0">
                <a:solidFill>
                  <a:srgbClr val="16232B"/>
                </a:solidFill>
                <a:latin typeface="Arial"/>
              </a:rPr>
              <a:t>Adoption stuck at 22 of 24 until the night shift was trained</a:t>
            </a:r>
          </a:p>
        </p:txBody>
      </p:sp>
      <p:cxnSp>
        <p:nvCxnSpPr>
          <p:cNvPr id="7" name="Connector 6"/>
          <p:cNvCxnSpPr/>
          <p:nvPr/>
        </p:nvCxnSpPr>
        <p:spPr>
          <a:xfrm>
            <a:off x="609600" y="4140200"/>
            <a:ext cx="152400" cy="0"/>
          </a:xfrm>
          <a:prstGeom prst="line">
            <a:avLst/>
          </a:prstGeom>
          <a:ln w="76200">
            <a:solidFill>
              <a:srgbClr val="1D5C6B"/>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914400" y="4000500"/>
            <a:ext cx="9804400" cy="762000"/>
          </a:xfrm>
          <a:prstGeom prst="rect">
            <a:avLst/>
          </a:prstGeom>
          <a:noFill/>
        </p:spPr>
        <p:txBody>
          <a:bodyPr wrap="square" anchor="t" lIns="0" rIns="0" tIns="0" bIns="0">
            <a:spAutoFit/>
          </a:bodyPr>
          <a:lstStyle/>
          <a:p>
            <a:pPr algn="l"/>
            <a:r>
              <a:rPr sz="1500" b="0">
                <a:solidFill>
                  <a:srgbClr val="16232B"/>
                </a:solidFill>
                <a:latin typeface="Arial"/>
              </a:rPr>
              <a:t>Three decided rules were missing from the first build; UAT caught them</a:t>
            </a:r>
          </a:p>
        </p:txBody>
      </p:sp>
      <p:cxnSp>
        <p:nvCxnSpPr>
          <p:cNvPr id="9" name="Connector 8"/>
          <p:cNvCxnSpPr/>
          <p:nvPr/>
        </p:nvCxnSpPr>
        <p:spPr>
          <a:xfrm>
            <a:off x="609600" y="5092700"/>
            <a:ext cx="152400" cy="0"/>
          </a:xfrm>
          <a:prstGeom prst="line">
            <a:avLst/>
          </a:prstGeom>
          <a:ln w="76200">
            <a:solidFill>
              <a:srgbClr val="1D5C6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4953000"/>
            <a:ext cx="9804400" cy="762000"/>
          </a:xfrm>
          <a:prstGeom prst="rect">
            <a:avLst/>
          </a:prstGeom>
          <a:noFill/>
        </p:spPr>
        <p:txBody>
          <a:bodyPr wrap="square" anchor="t" lIns="0" rIns="0" tIns="0" bIns="0">
            <a:spAutoFit/>
          </a:bodyPr>
          <a:lstStyle/>
          <a:p>
            <a:pPr algn="l"/>
            <a:r>
              <a:rPr sz="1500" b="0">
                <a:solidFill>
                  <a:srgbClr val="16232B"/>
                </a:solidFill>
                <a:latin typeface="Arial"/>
              </a:rPr>
              <a:t>Rework peaked at 19.1% in the pilot's first month</a:t>
            </a:r>
          </a:p>
        </p:txBody>
      </p:sp>
      <p:sp>
        <p:nvSpPr>
          <p:cNvPr id="11" name="TextBox 10"/>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12" name="TextBox 11"/>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609600" y="698500"/>
            <a:ext cx="10972800" cy="952500"/>
          </a:xfrm>
          <a:prstGeom prst="rect">
            <a:avLst/>
          </a:prstGeom>
          <a:noFill/>
        </p:spPr>
        <p:txBody>
          <a:bodyPr wrap="square" anchor="b" lIns="0" rIns="0" tIns="0" bIns="0">
            <a:spAutoFit/>
          </a:bodyPr>
          <a:lstStyle/>
          <a:p>
            <a:pPr algn="l"/>
            <a:r>
              <a:rPr sz="2800" b="1">
                <a:solidFill>
                  <a:srgbClr val="16232B"/>
                </a:solidFill>
                <a:latin typeface="Arial"/>
              </a:rPr>
              <a:t>For your organisation: model the states before the screens</a:t>
            </a:r>
          </a:p>
        </p:txBody>
      </p:sp>
      <p:sp>
        <p:nvSpPr>
          <p:cNvPr id="3" name="TextBox 2"/>
          <p:cNvSpPr txBox="1"/>
          <p:nvPr/>
        </p:nvSpPr>
        <p:spPr>
          <a:xfrm>
            <a:off x="609600" y="2095500"/>
            <a:ext cx="7264400" cy="3810000"/>
          </a:xfrm>
          <a:prstGeom prst="rect">
            <a:avLst/>
          </a:prstGeom>
          <a:noFill/>
        </p:spPr>
        <p:txBody>
          <a:bodyPr wrap="square" anchor="t" lIns="0" rIns="0" tIns="0" bIns="0">
            <a:spAutoFit/>
          </a:bodyPr>
          <a:lstStyle/>
          <a:p>
            <a:pPr algn="l"/>
            <a:r>
              <a:rPr sz="2200" b="0">
                <a:solidFill>
                  <a:srgbClr val="16232B"/>
                </a:solidFill>
                <a:latin typeface="Arial"/>
              </a:rPr>
              <a:t>Ask of every document when it may still change, and who may change it. Write the answers as states, moves and refusals, and test each refusal. Leave policy with its owners: approval, posting, credit and closure belong to the business. A decided rule is not a built rule until a test proves it.</a:t>
            </a:r>
          </a:p>
        </p:txBody>
      </p:sp>
      <p:sp>
        <p:nvSpPr>
          <p:cNvPr id="4" name="TextBox 3"/>
          <p:cNvSpPr txBox="1"/>
          <p:nvPr/>
        </p:nvSpPr>
        <p:spPr>
          <a:xfrm>
            <a:off x="609600" y="6350000"/>
            <a:ext cx="8890000" cy="304800"/>
          </a:xfrm>
          <a:prstGeom prst="rect">
            <a:avLst/>
          </a:prstGeom>
          <a:noFill/>
        </p:spPr>
        <p:txBody>
          <a:bodyPr wrap="square" anchor="ctr" lIns="0" rIns="0" tIns="0" bIns="0">
            <a:spAutoFit/>
          </a:bodyPr>
          <a:lstStyle/>
          <a:p>
            <a:pPr algn="l"/>
            <a:r>
              <a:rPr sz="1200" b="0">
                <a:solidFill>
                  <a:srgbClr val="5B6B73"/>
                </a:solidFill>
                <a:latin typeface="Arial"/>
              </a:rPr>
              <a:t>Tanmark Industries is fictional. Numbers are illustrative, from the synthetic dataset in data/.</a:t>
            </a:r>
          </a:p>
        </p:txBody>
      </p:sp>
      <p:sp>
        <p:nvSpPr>
          <p:cNvPr id="5" name="TextBox 4"/>
          <p:cNvSpPr txBox="1"/>
          <p:nvPr/>
        </p:nvSpPr>
        <p:spPr>
          <a:xfrm>
            <a:off x="10312400" y="6350000"/>
            <a:ext cx="1270000" cy="304800"/>
          </a:xfrm>
          <a:prstGeom prst="rect">
            <a:avLst/>
          </a:prstGeom>
          <a:noFill/>
        </p:spPr>
        <p:txBody>
          <a:bodyPr wrap="square" anchor="ctr" lIns="0" rIns="0" tIns="0" bIns="0">
            <a:spAutoFit/>
          </a:bodyPr>
          <a:lstStyle/>
          <a:p>
            <a:pPr algn="r"/>
            <a:r>
              <a:rPr sz="1200" b="0">
                <a:solidFill>
                  <a:srgbClr val="5B6B73"/>
                </a:solidFill>
                <a:latin typeface="Arial"/>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CFC"/>
        </a:solidFill>
        <a:effectLst/>
      </p:bgPr>
    </p:bg>
    <p:spTree>
      <p:nvGrpSpPr>
        <p:cNvPr id="1" name=""/>
        <p:cNvGrpSpPr/>
        <p:nvPr/>
      </p:nvGrpSpPr>
      <p:grpSpPr/>
      <p:sp>
        <p:nvSpPr>
          <p:cNvPr id="2" name="TextBox 1"/>
          <p:cNvSpPr txBox="1"/>
          <p:nvPr/>
        </p:nvSpPr>
        <p:spPr>
          <a:xfrm>
            <a:off x="1536700" y="2413000"/>
            <a:ext cx="9118600" cy="762000"/>
          </a:xfrm>
          <a:prstGeom prst="rect">
            <a:avLst/>
          </a:prstGeom>
          <a:noFill/>
        </p:spPr>
        <p:txBody>
          <a:bodyPr wrap="square" anchor="t" lIns="0" rIns="0" tIns="0" bIns="0">
            <a:spAutoFit/>
          </a:bodyPr>
          <a:lstStyle/>
          <a:p>
            <a:pPr algn="l"/>
            <a:r>
              <a:rPr sz="4400" b="1">
                <a:solidFill>
                  <a:srgbClr val="16232B"/>
                </a:solidFill>
                <a:latin typeface="Arial"/>
              </a:rPr>
              <a:t>The full case, in one repository</a:t>
            </a:r>
          </a:p>
        </p:txBody>
      </p:sp>
      <p:sp>
        <p:nvSpPr>
          <p:cNvPr id="3" name="Rectangle 2"/>
          <p:cNvSpPr/>
          <p:nvPr/>
        </p:nvSpPr>
        <p:spPr>
          <a:xfrm>
            <a:off x="1536700" y="3556000"/>
            <a:ext cx="9118600" cy="571500"/>
          </a:xfrm>
          <a:prstGeom prst="rect">
            <a:avLst/>
          </a:prstGeom>
          <a:solidFill>
            <a:srgbClr val="1D5C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6200" rIns="76200" tIns="76200" bIns="76200"/>
          <a:lstStyle/>
          <a:p>
            <a:pPr algn="l"/>
            <a:r>
              <a:rPr sz="2200" b="0">
                <a:solidFill>
                  <a:srgbClr val="FFFFFF"/>
                </a:solidFill>
                <a:latin typeface="Arial"/>
              </a:rPr>
              <a:t>State model, maps, stories, UAT, RACI and thirteen working papers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